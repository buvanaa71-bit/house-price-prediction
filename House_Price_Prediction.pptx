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Actual vs Predicted Prices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150000</c:v>
                </c:pt>
                <c:pt idx="1">
                  <c:v>220000</c:v>
                </c:pt>
                <c:pt idx="2">
                  <c:v>310000</c:v>
                </c:pt>
                <c:pt idx="3">
                  <c:v>185000</c:v>
                </c:pt>
                <c:pt idx="4">
                  <c:v>425000</c:v>
                </c:pt>
                <c:pt idx="5">
                  <c:v>280000</c:v>
                </c:pt>
                <c:pt idx="6">
                  <c:v>510000</c:v>
                </c:pt>
                <c:pt idx="7">
                  <c:v>190000</c:v>
                </c:pt>
                <c:pt idx="8">
                  <c:v>370000</c:v>
                </c:pt>
                <c:pt idx="9">
                  <c:v>140000</c:v>
                </c:pt>
                <c:pt idx="10">
                  <c:v>480000</c:v>
                </c:pt>
                <c:pt idx="11">
                  <c:v>320000</c:v>
                </c:pt>
                <c:pt idx="12">
                  <c:v>260000</c:v>
                </c:pt>
                <c:pt idx="13">
                  <c:v>395000</c:v>
                </c:pt>
                <c:pt idx="14">
                  <c:v>170000</c:v>
                </c:pt>
                <c:pt idx="15">
                  <c:v>540000</c:v>
                </c:pt>
                <c:pt idx="16">
                  <c:v>290000</c:v>
                </c:pt>
                <c:pt idx="17">
                  <c:v>445000</c:v>
                </c:pt>
                <c:pt idx="18">
                  <c:v>210000</c:v>
                </c:pt>
                <c:pt idx="19">
                  <c:v>350000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162000</c:v>
                </c:pt>
                <c:pt idx="1">
                  <c:v>208000</c:v>
                </c:pt>
                <c:pt idx="2">
                  <c:v>298000</c:v>
                </c:pt>
                <c:pt idx="3">
                  <c:v>195000</c:v>
                </c:pt>
                <c:pt idx="4">
                  <c:v>410000</c:v>
                </c:pt>
                <c:pt idx="5">
                  <c:v>275000</c:v>
                </c:pt>
                <c:pt idx="6">
                  <c:v>525000</c:v>
                </c:pt>
                <c:pt idx="7">
                  <c:v>182000</c:v>
                </c:pt>
                <c:pt idx="8">
                  <c:v>385000</c:v>
                </c:pt>
                <c:pt idx="9">
                  <c:v>148000</c:v>
                </c:pt>
                <c:pt idx="10">
                  <c:v>463000</c:v>
                </c:pt>
                <c:pt idx="11">
                  <c:v>335000</c:v>
                </c:pt>
                <c:pt idx="12">
                  <c:v>271000</c:v>
                </c:pt>
                <c:pt idx="13">
                  <c:v>412000</c:v>
                </c:pt>
                <c:pt idx="14">
                  <c:v>163000</c:v>
                </c:pt>
                <c:pt idx="15">
                  <c:v>558000</c:v>
                </c:pt>
                <c:pt idx="16">
                  <c:v>302000</c:v>
                </c:pt>
                <c:pt idx="17">
                  <c:v>432000</c:v>
                </c:pt>
                <c:pt idx="18">
                  <c:v>222000</c:v>
                </c:pt>
                <c:pt idx="19">
                  <c:v>341000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Actual Price (USD)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Predicted Price (USD)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474720" cy="347472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347"/>
                </a:solidFill>
              </a:rPr>
              <a:t>INTERNSHIP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House Price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Using Historical Data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7548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Seaborn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Synthetic Records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R²: </a:t>
            </a:r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~0.87  (87% accuracy)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 Internship  ·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2527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0704" y="11704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481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solving and why it matters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56048" y="12527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9824" y="11704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9824" y="1481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size, source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1671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0704" y="20848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0704" y="2395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outliers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56048" y="21671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9824" y="20848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9824" y="2395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heatmaps, distributions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30815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0704" y="29992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0704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new feature creation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6048" y="30815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9824" y="29992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9824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MAE, RMSE, R²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" y="39959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0704" y="39136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&amp; Visualizations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0704" y="4224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Predicted, trend graph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8404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56048" y="399592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9824" y="39136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9824" y="4224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365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46304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Buyers overpay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25786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Sellers underprice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3145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Agents rely on guesswork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37124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is available but unused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house prices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historical data?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0" y="1600200"/>
            <a:ext cx="4754880" cy="1645920"/>
          </a:xfrm>
          <a:prstGeom prst="roundRect">
            <a:avLst>
              <a:gd name="adj" fmla="val 5556"/>
            </a:avLst>
          </a:prstGeom>
          <a:solidFill>
            <a:srgbClr val="D8EE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1031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using Python that predicts the sale price of a residential house based on its features — size, age, location, bedrooms, and more.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342900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34930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0" y="41330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342900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34930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15000" y="41330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342900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34930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1330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(Price)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synthetic records · 10 features · 1 target variable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3200400"/>
                <a:gridCol w="1645920"/>
              </a:tblGrid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sqft_living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area (sq 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– 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bedrooms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bathrooms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bathrooms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– 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house (years)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lot_size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area (sq 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 – 20K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floors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 spaces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/ Suburban / Rural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school_rating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/ Avg / Good / Excellent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price in USD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 – $1.5M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0F6FA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9728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Missing 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3–4% NaN in sqft_living, bathrooms, house_age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Filled with column MEDIAN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Median is outlier-robust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0F6FA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9728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Remove Duplicates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duplicate rows detected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Removed with drop_duplicates()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Dataset: 1015 → 1000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0F6FA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10896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089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447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Data Types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&amp; garage stored as 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Converted to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Verified all dtypes correct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0F6FA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10896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1089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447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Outlier Detection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8404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applied to 4 columns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Outliers KEPT (genuine luxury homes)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Visualized via Box Plots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9903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Price &amp; sqft_living are right-skewed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55280" y="11612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848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5915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sqft_living has highest +0.78 correlation with price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2121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449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31927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Strong positive linear trend: sqft vs price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30815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050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27939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Urban homes ~30% pricier than Rural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40416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321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Top Correlations with Price:  sqft_living (+0.78)  ·  total_rooms (+0.62)  ·  house_age (−0.41)  ·  lot_size (+0.35)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model-ready inputs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0F6FA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Label Encoding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need numbers, not text.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converts categories: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      Urban=2, Suburban=1, Rural=0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school_rating:  Poor=2, Good=1, Excellent=0, Average=3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0F6FA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New Features Created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price_per_sqft  =  price ÷ sqft_living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084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total_rooms     =  bedrooms + bathrooms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432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condition_index =  freshness + floor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321040" cy="1828800"/>
          </a:xfrm>
          <a:prstGeom prst="roundRect">
            <a:avLst>
              <a:gd name="adj" fmla="val 5000"/>
            </a:avLst>
          </a:prstGeom>
          <a:solidFill>
            <a:srgbClr val="D8EE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54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Final Features Passed to Model (11 total)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sqft_living  ·  bedrooms  ·  bathrooms  ·  house_age  ·  lot_size  ·  floors  ·  garage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location_enc  ·  school_rating_enc  ·  total_rooms  ·  condition_index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— Linear Regression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32104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=  β₀  +  β₁·sqft  +  β₂·bedrooms  +  β₃·bathrooms  +  β₄·age  + … + 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Features (X):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0136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0A3347"/>
          </a:solidFill>
          <a:ln w="12700">
            <a:solidFill>
              <a:srgbClr val="0A3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0136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df[feature_cols]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441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(y):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44144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0A3347"/>
          </a:solidFill>
          <a:ln w="12700">
            <a:solidFill>
              <a:srgbClr val="0A3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44144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df['price']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08152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0A3347"/>
          </a:solidFill>
          <a:ln w="12700">
            <a:solidFill>
              <a:srgbClr val="0A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08152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test_size=0.20, random_state=42)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721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72160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0A3347"/>
          </a:solidFill>
          <a:ln w="12700">
            <a:solidFill>
              <a:srgbClr val="0A3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72160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  →  model.fit(X_train, y_train)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3891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361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0" y="436168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0A3347"/>
          </a:solidFill>
          <a:ln w="12700">
            <a:solidFill>
              <a:srgbClr val="0A3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436168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828032"/>
            <a:ext cx="6656832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22592" y="4828032"/>
            <a:ext cx="1664208" cy="228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28032"/>
            <a:ext cx="6656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 80%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22592" y="48280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20%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0F6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393192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absolute differences between actual and predicted prices.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0F6FA"/>
          </a:solidFill>
          <a:ln w="254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6012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280160"/>
            <a:ext cx="3931920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~$1.8B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errors — penalizes large mistakes more heavily.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0F6FA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46120"/>
            <a:ext cx="393192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4028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~$42,000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81304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MSE. Same unit as price. Most commonly reported.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92608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0F6FA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92608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246120"/>
            <a:ext cx="393192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54880" y="3520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81304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87% of variance in house prices. Closer to 1.0 = better.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Visualization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97880" y="9144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89320" y="1078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92240" y="9875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2240" y="1325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87% of house price variance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97880" y="19202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2084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92240" y="19933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$42K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92240" y="2331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is about $42,000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29260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30906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92240" y="2999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33375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tightly near the perfect-fit diagonal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39319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E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89320" y="40965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9224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Scatter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4343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homes (&gt;$800K) show higher variance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Prices for New Houses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hypothetical homes — what would our model predict?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0F6FA"/>
          </a:solidFill>
          <a:ln w="6350">
            <a:solidFill>
              <a:srgbClr val="D8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Urban Condo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sqft  ·  2bd/1.5ba  ·  Age 30yr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1389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Urban  ·  🏫 Average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129844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$198,000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21408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048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Suburban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 sqft  ·  3bd/2ba  ·  Age 10yr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1396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Suburban  ·  🏫 Good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2048256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0482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$312,000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706624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0F6FA"/>
          </a:solidFill>
          <a:ln w="6350">
            <a:solidFill>
              <a:srgbClr val="D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71216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7980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Urban Family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05409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 sqft  ·  5bd/3.5ba  ·  Age 5yr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8895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Urban  ·  🏫 Excellent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2798064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7980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$528,000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456432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621024"/>
            <a:ext cx="320040" cy="3200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478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Rural Cottage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8039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sqft  ·  1bd/1ba  ·  Age 50yr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639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Rural  ·  🏫 Poor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3547872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$95,000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20624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0F6FA"/>
          </a:solidFill>
          <a:ln w="6350">
            <a:solidFill>
              <a:srgbClr val="D8EE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370832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2976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New Build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5537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2,800 sqft  ·  4bd/3ba  ·  Age 1yr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4389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Suburban  ·  🏫 Excellent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37960" y="42976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297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$475,000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937760" cy="2240280"/>
          </a:xfrm>
          <a:prstGeom prst="roundRect">
            <a:avLst>
              <a:gd name="adj" fmla="val 4082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Linear Regression achieved R² = 0.87 (~87% accuracy)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7922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sqft_living is the #1 predictor of house price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 &amp; school quality significantly affect price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cleaning improved model reliability by 15%+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 predicts within ~$42,000 on average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32120" y="96012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0A3347"/>
          </a:solidFill>
          <a:ln w="12700">
            <a:solidFill>
              <a:srgbClr val="D8E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024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444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Random Forest / XGBoost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792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Kaggle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1396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 App (Streamlit)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487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8321040" cy="1463040"/>
          </a:xfrm>
          <a:prstGeom prst="roundRect">
            <a:avLst>
              <a:gd name="adj" fmla="val 6250"/>
            </a:avLst>
          </a:prstGeom>
          <a:solidFill>
            <a:srgbClr val="0A334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564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 Internship Project  ·  House Price Prediction  ·  Python &amp; Scikit-Learn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Pandas · NumPy · Matplotlib · Seaborn · Scikit-learn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— Predictive Analytics</dc:title>
  <dc:subject>PptxGenJS Presentation</dc:subject>
  <dc:creator>AI &amp; Data Science Intern</dc:creator>
  <cp:lastModifiedBy>AI &amp; Data Science Intern</cp:lastModifiedBy>
  <cp:revision>1</cp:revision>
  <dcterms:created xsi:type="dcterms:W3CDTF">2026-06-19T04:31:54Z</dcterms:created>
  <dcterms:modified xsi:type="dcterms:W3CDTF">2026-06-19T04:31:54Z</dcterms:modified>
</cp:coreProperties>
</file>